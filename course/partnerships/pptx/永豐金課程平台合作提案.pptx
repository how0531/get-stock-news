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B08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5875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spc="200">
                <a:solidFill>
                  <a:srgbClr val="127A6B"/>
                </a:solidFill>
                <a:latin typeface="Consolas"/>
                <a:ea typeface="Microsoft JhengHei"/>
                <a:cs typeface="Consolas"/>
              </a:rPr>
              <a:t>課程平台合作提案・COURSE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1981200"/>
            <a:ext cx="9906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4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把「看懂新聞」</a:t>
            </a:r>
          </a:p>
          <a:p>
            <a:pPr algn="l">
              <a:lnSpc>
                <a:spcPct val="124000"/>
              </a:lnSpc>
            </a:pPr>
            <a:r>
              <a:rPr sz="4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做成永豐金投資人的</a:t>
            </a:r>
            <a:r>
              <a:rPr sz="480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日常能力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038600"/>
            <a:ext cx="8890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一套已完成的財經資訊素養課程 ＋ 一個可運作的新聞多空監測工具，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為永豐金課程平台帶來安全、差異化、能沉澱用戶的投資教育內容。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5321300"/>
            <a:ext cx="31750" cy="469900"/>
          </a:xfrm>
          <a:prstGeom prst="rect">
            <a:avLst/>
          </a:prstGeom>
          <a:solidFill>
            <a:srgbClr val="12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5700" y="5321300"/>
            <a:ext cx="317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0" spc="8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提案對象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永豐金證券・課程/投資學習平台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5321300"/>
            <a:ext cx="31750" cy="469900"/>
          </a:xfrm>
          <a:prstGeom prst="rect">
            <a:avLst/>
          </a:prstGeom>
          <a:solidFill>
            <a:srgbClr val="12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1700" y="5321300"/>
            <a:ext cx="317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0" spc="8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提案內容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課程上架 × 工具整合 × 共同品牌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0" y="5321300"/>
            <a:ext cx="31750" cy="469900"/>
          </a:xfrm>
          <a:prstGeom prst="rect">
            <a:avLst/>
          </a:prstGeom>
          <a:solidFill>
            <a:srgbClr val="12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7700" y="5321300"/>
            <a:ext cx="317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0" spc="8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交付狀態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課程與工具皆已完成，可即刻上線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30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一頁看懂這個提案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9000" y="2032000"/>
            <a:ext cx="4826000" cy="330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69000" y="2032000"/>
            <a:ext cx="4826000" cy="330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286000"/>
            <a:ext cx="1092200" cy="228600"/>
          </a:xfrm>
          <a:prstGeom prst="roundRect">
            <a:avLst>
              <a:gd name="adj" fmla="val 50000"/>
            </a:avLst>
          </a:prstGeom>
          <a:solidFill>
            <a:srgbClr val="E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05050"/>
            <a:ext cx="1092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我們帶來什麼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559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0500" y="27305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入門課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：散戶新聞實戰課，零程式門檻，適合平台廣大用戶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32131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893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0500" y="32639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技術課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：Python 股市新聞情報系統，適合進階/工程背景用戶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7465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8227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0500" y="37973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監測工具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：新聞利多/利空自動判讀，可作教材，亦可整合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2286000"/>
            <a:ext cx="1225550" cy="2286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3000" y="2305050"/>
            <a:ext cx="122555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永豐金得到什麼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0" y="27559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0500" y="27305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用戶黏著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：從「開戶交易」延伸到「每天回來學習」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3000" y="32131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3000" y="32893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0500" y="32639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平台差異化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：別家券商沒有的「新聞判讀能力」內容線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3000" y="37465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3000" y="38227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0500" y="37973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法遵安全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：定位資訊素養教學，全程不涉個股買賣建議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3000" y="42799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3000" y="43561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0500" y="43307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財經素養 PR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：呼應主管機關推動的投資人教育方向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合作形式彈性：可純上架分潤、可共同品牌獨家、可工具授權整合——第 12 頁提供三種模式。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01・為什麼是現在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新一代投資人進場，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1206500"/>
            <a:ext cx="1041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但「看新聞的能力」沒跟上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2222500"/>
            <a:ext cx="3175000" cy="2667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2438400"/>
            <a:ext cx="2743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年輕、行動優先的開戶潮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806700"/>
            <a:ext cx="2743200" cy="2006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8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零股交易與定期定額普及，大量新手用行動 App 進場——他們最缺的不是下單功能，是判讀資訊的方法。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222500"/>
            <a:ext cx="3175000" cy="2667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900" y="2438400"/>
            <a:ext cx="2743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資訊過載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2806700"/>
            <a:ext cx="2743200" cy="2006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8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財經新聞 App、社群、群組訊息爆量，新手每天被大量真假難辨的消息淹沒，容易追高殺低。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7000" y="2222500"/>
            <a:ext cx="3175000" cy="2667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62900" y="2438400"/>
            <a:ext cx="2743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教育需求正被政策推動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0" y="2806700"/>
            <a:ext cx="2743200" cy="2006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8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投資人教育是金融業與主管機關共同關注方向；能提供「安全、不涉建議」的素養內容，是券商的加分項。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機會：券商平台擁有用戶與流量，但普遍缺少「教用戶怎麼消化資訊」的優質內容——這正是本提案補上的一塊。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02・平台的內容困境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券商做投資教育，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1206500"/>
            <a:ext cx="1041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常卡在這三件事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21209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6500" y="2095500"/>
            <a:ext cx="100965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內容同質化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——各家都在講技術分析、K 線、財報基礎，用戶看膩了，也記不住是哪一家教的。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000" y="2578100"/>
            <a:ext cx="104140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26543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500" y="2628900"/>
            <a:ext cx="100965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法遵綁手綁腳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——只要碰個股就有投顧法風險，內容團隊做得綁手綁腳，往往流於空泛。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9000" y="3111500"/>
            <a:ext cx="104140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31877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6500" y="3162300"/>
            <a:ext cx="100965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看完就走，沉澱不了用戶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——影片看完沒有「可以每天用的工具或習慣」，無法把觀看轉成回訪與活躍。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000" y="3810000"/>
            <a:ext cx="50800" cy="1206500"/>
          </a:xfrm>
          <a:prstGeom prst="rect">
            <a:avLst/>
          </a:prstGeom>
          <a:solidFill>
            <a:srgbClr val="B08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9000" y="3810000"/>
            <a:ext cx="9525000" cy="1206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9000" y="3810000"/>
            <a:ext cx="50800" cy="1206500"/>
          </a:xfrm>
          <a:prstGeom prst="rect">
            <a:avLst/>
          </a:prstGeom>
          <a:solidFill>
            <a:srgbClr val="B08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6500" y="4025900"/>
            <a:ext cx="9017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用戶要的不是「更多內容」，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是一個「每天都想打開、而且合規安全」的學習理由。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03・我們帶來的三個資產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30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一條完整的</a:t>
            </a:r>
            <a:r>
              <a:rPr sz="300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投資素養內容線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9000" y="2159000"/>
            <a:ext cx="3175000" cy="273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04900" y="2374900"/>
            <a:ext cx="1092200" cy="228600"/>
          </a:xfrm>
          <a:prstGeom prst="roundRect">
            <a:avLst>
              <a:gd name="adj" fmla="val 50000"/>
            </a:avLst>
          </a:prstGeom>
          <a:solidFill>
            <a:srgbClr val="E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2393950"/>
            <a:ext cx="1092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資產一・入門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717800"/>
            <a:ext cx="2743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A </a:t>
            </a:r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散戶新聞實戰課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086100"/>
            <a:ext cx="2743200" cy="172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8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零程式門檻、6 單元教學投影片。教用戶用對新聞、避開四大陷阱、建立每日看盤 SOP。適合平台最大宗的一般用戶。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0" y="2159000"/>
            <a:ext cx="3175000" cy="273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3900" y="2374900"/>
            <a:ext cx="1092200" cy="228600"/>
          </a:xfrm>
          <a:prstGeom prst="roundRect">
            <a:avLst>
              <a:gd name="adj" fmla="val 50000"/>
            </a:avLst>
          </a:prstGeom>
          <a:solidFill>
            <a:srgbClr val="E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3900" y="2393950"/>
            <a:ext cx="1092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資產二・進階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3900" y="2717800"/>
            <a:ext cx="2743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B </a:t>
            </a:r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Python 情報系統課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3900" y="3086100"/>
            <a:ext cx="2743200" cy="172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8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8 模組實戰，串接新聞 API 與官方公告、自動去重、量化熱度。適合工程背景與進階用戶，拉高平台專業形象。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7000" y="2159000"/>
            <a:ext cx="3175000" cy="273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62900" y="2374900"/>
            <a:ext cx="1092200" cy="2286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2900" y="2393950"/>
            <a:ext cx="1092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資產三・工具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2900" y="2717800"/>
            <a:ext cx="2743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C </a:t>
            </a:r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新聞多空監測工具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2900" y="3086100"/>
            <a:ext cx="2743200" cy="172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8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已可運作的系統：自動判讀新聞利多/利空、彙整個股多空榜。可作課程實作素材，亦可授權整合進大戶投等 App。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三者形成漏斗：入門課吸引廣大用戶 → 工具養成每日回訪習慣 → 進階課沉澱高價值用戶。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資產 A・入門課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30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散戶新聞實戰課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14605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45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為平台最大宗的一般投資人設計。不用寫程式、看得懂中文就能上，直接提升「看盤效率」。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1905000"/>
            <a:ext cx="10414000" cy="355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41400" y="2032000"/>
          <a:ext cx="10109200" cy="3302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86000"/>
                <a:gridCol w="7823200"/>
              </a:tblGrid>
              <a:tr h="4064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 spc="80">
                          <a:solidFill>
                            <a:srgbClr val="5566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單元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ap="flat">
                      <a:solidFill>
                        <a:srgbClr val="0F3B3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 spc="80">
                          <a:solidFill>
                            <a:srgbClr val="5566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學員帶走的能力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ap="flat">
                      <a:solidFill>
                        <a:srgbClr val="0F3B36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1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資訊鏈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看懂一則新聞到你手上經過幾站、延遲多久——接受「新聞是落後指標」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1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資訊源頭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建立自己的三來源清單，分清第一手 vs 轉載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1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分鐘判讀 SOP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五個固定問題，快速判斷一則新聞值不值得理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1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熱度思維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用新聞量的「變化」讀市場關注，避開擁擠行情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1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每日例行流程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盤前 30 分／盤中兩原則／盤後 15 分的完整 SOP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1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陷阱與驗證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辨識新聞陷阱、建立 T+1/T+5 事後驗證習慣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形式：38 頁教學投影片 ＋ 4 個實戰練習。全課以「教學示例」呈現個股，封面與高風險頁均有免責聲明。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資產 B・進階技術課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27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用 Python 打造股市新聞情報系統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9000" y="2095500"/>
            <a:ext cx="4826000" cy="2984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69000" y="2095500"/>
            <a:ext cx="4826000" cy="2984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349500"/>
            <a:ext cx="819150" cy="228600"/>
          </a:xfrm>
          <a:prstGeom prst="roundRect">
            <a:avLst>
              <a:gd name="adj" fmla="val 50000"/>
            </a:avLst>
          </a:prstGeom>
          <a:solidFill>
            <a:srgbClr val="E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68550"/>
            <a:ext cx="81915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課程規模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19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0500" y="27940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8 模組・45 堂・8–10 小時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32766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528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0500" y="33274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附完整可執行 GitHub 專案（含測試與 CI）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8100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8862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0500" y="38608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串接鉅亨 API、10+ 家媒體、官方公告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43434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4196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0500" y="43942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去重、時區、PIT 儲存、熱度量化全流程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2349500"/>
            <a:ext cx="1092200" cy="2286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3000" y="2368550"/>
            <a:ext cx="1092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對平台的意義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3000" y="2819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0500" y="27940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拉高專業形象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：市面極少見的「生產級」財經工程課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3000" y="32766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3000" y="33528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0500" y="33274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吸引高價值客群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：工程師、量化愛好者、年輕高資產族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3000" y="38100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3000" y="38862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0500" y="38608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內容護城河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：一年免費更新承諾，內容不易被複製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定位：進階付費內容，客單較高（原定價帶 NT$2,000–3,000），與入門課構成「免費/低價引流 → 進階變現」的雙層結構。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資產 C・監測工具（已可運作）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27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新聞利多/利空監測——</a:t>
            </a:r>
            <a:r>
              <a:rPr sz="270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不是概念，是跑出來的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9000" y="2032000"/>
            <a:ext cx="10414000" cy="3175000"/>
          </a:xfrm>
          <a:prstGeom prst="roundRect">
            <a:avLst>
              <a:gd name="adj" fmla="val 2000"/>
            </a:avLst>
          </a:prstGeom>
          <a:solidFill>
            <a:srgbClr val="0F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400" y="2247900"/>
            <a:ext cx="9855200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D6A94E"/>
                </a:solidFill>
                <a:latin typeface="Consolas"/>
                <a:ea typeface="Microsoft JhengHei"/>
                <a:cs typeface="Consolas"/>
              </a:rPr>
              <a:t>=== 新聞利多/利空監測 2026-07-03 ===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總計：利多 3 則｜利空 2 則｜中性 1 則</a:t>
            </a:r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D6A94E"/>
                </a:solidFill>
                <a:latin typeface="Consolas"/>
                <a:ea typeface="Microsoft JhengHei"/>
                <a:cs typeface="Consolas"/>
              </a:rPr>
              <a:t>--- 個股利多榜 ---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 2330 台積電  </a:t>
            </a:r>
            <a:r>
              <a:rPr sz="1200" b="0">
                <a:solidFill>
                  <a:srgbClr val="5FD0AE"/>
                </a:solidFill>
                <a:latin typeface="Consolas"/>
                <a:ea typeface="Microsoft JhengHei"/>
                <a:cs typeface="Consolas"/>
              </a:rPr>
              <a:t>net=+25.0  利多×2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    </a:t>
            </a:r>
            <a:r>
              <a:rPr sz="1200" b="0">
                <a:solidFill>
                  <a:srgbClr val="5FD0AE"/>
                </a:solidFill>
                <a:latin typeface="Consolas"/>
                <a:ea typeface="Microsoft JhengHei"/>
                <a:cs typeface="Consolas"/>
              </a:rPr>
              <a:t>[利多+15]</a:t>
            </a: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台積電上修財測 產能滿載供不應求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    </a:t>
            </a:r>
            <a:r>
              <a:rPr sz="1200" b="0">
                <a:solidFill>
                  <a:srgbClr val="5FD0AE"/>
                </a:solidFill>
                <a:latin typeface="Consolas"/>
                <a:ea typeface="Microsoft JhengHei"/>
                <a:cs typeface="Consolas"/>
              </a:rPr>
              <a:t>[利多+10]</a:t>
            </a: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外資調升目標價 獲利優於預期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 2303 聯電    </a:t>
            </a:r>
            <a:r>
              <a:rPr sz="1200" b="0">
                <a:solidFill>
                  <a:srgbClr val="5FD0AE"/>
                </a:solidFill>
                <a:latin typeface="Consolas"/>
                <a:ea typeface="Microsoft JhengHei"/>
                <a:cs typeface="Consolas"/>
              </a:rPr>
              <a:t>net= +2.0  利多×1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    </a:t>
            </a:r>
            <a:r>
              <a:rPr sz="1200" b="0">
                <a:solidFill>
                  <a:srgbClr val="5FD0AE"/>
                </a:solidFill>
                <a:latin typeface="Consolas"/>
                <a:ea typeface="Microsoft JhengHei"/>
                <a:cs typeface="Consolas"/>
              </a:rPr>
              <a:t>[利多 +2]</a:t>
            </a: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市場傳出可望取得大單  </a:t>
            </a:r>
            <a:r>
              <a:rPr sz="1200" b="0">
                <a:solidFill>
                  <a:srgbClr val="7C9188"/>
                </a:solidFill>
                <a:latin typeface="Consolas"/>
                <a:ea typeface="Microsoft JhengHei"/>
                <a:cs typeface="Consolas"/>
              </a:rPr>
              <a:t>（傳聞→分數折半）</a:t>
            </a:r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D6A94E"/>
                </a:solidFill>
                <a:latin typeface="Consolas"/>
                <a:ea typeface="Microsoft JhengHei"/>
                <a:cs typeface="Consolas"/>
              </a:rPr>
              <a:t>--- 個股利空榜 ---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 2454 聯發科  </a:t>
            </a:r>
            <a:r>
              <a:rPr sz="1200" b="0">
                <a:solidFill>
                  <a:srgbClr val="E88A6F"/>
                </a:solidFill>
                <a:latin typeface="Consolas"/>
                <a:ea typeface="Microsoft JhengHei"/>
                <a:cs typeface="Consolas"/>
              </a:rPr>
              <a:t>net= -6.0  利空×1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    </a:t>
            </a:r>
            <a:r>
              <a:rPr sz="1200" b="0">
                <a:solidFill>
                  <a:srgbClr val="E88A6F"/>
                </a:solidFill>
                <a:latin typeface="Consolas"/>
                <a:ea typeface="Microsoft JhengHei"/>
                <a:cs typeface="Consolas"/>
              </a:rPr>
              <a:t>[利空 -6]</a:t>
            </a:r>
            <a:r>
              <a:rPr sz="1200" b="0">
                <a:solidFill>
                  <a:srgbClr val="DCE8E4"/>
                </a:solidFill>
                <a:latin typeface="Consolas"/>
                <a:ea typeface="Microsoft JhengHei"/>
                <a:cs typeface="Consolas"/>
              </a:rPr>
              <a:t> 聯發科遭砍單 全年展望轉保守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規則透明可解釋：每則判定都能列出命中詞與權重；「市場傳出/可望」等傳聞用語自動折價，呼應課程「事實＞預期＞傳聞」的原則。可作課程實作教材，或作為 App 內的「今日新聞情緒」小工具。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資產 C・整合場景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30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它可以長在永豐金的平台裡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9000" y="2222500"/>
            <a:ext cx="3175000" cy="2667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04900" y="2438400"/>
            <a:ext cx="1365250" cy="228600"/>
          </a:xfrm>
          <a:prstGeom prst="roundRect">
            <a:avLst>
              <a:gd name="adj" fmla="val 50000"/>
            </a:avLst>
          </a:prstGeom>
          <a:solidFill>
            <a:srgbClr val="E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2457450"/>
            <a:ext cx="136525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情境一・課程實作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781300"/>
            <a:ext cx="2743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當作教材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149600"/>
            <a:ext cx="2743200" cy="166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8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入門/進階課學員照著跑，親手產出自己的多空榜——把「看完就走」變成「動手做出成果」。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0" y="2222500"/>
            <a:ext cx="3175000" cy="2667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3900" y="2438400"/>
            <a:ext cx="1524000" cy="228600"/>
          </a:xfrm>
          <a:prstGeom prst="roundRect">
            <a:avLst>
              <a:gd name="adj" fmla="val 50000"/>
            </a:avLst>
          </a:prstGeom>
          <a:solidFill>
            <a:srgbClr val="E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3900" y="24574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情境二・App 小工具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3900" y="2781300"/>
            <a:ext cx="2743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今日新聞情緒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3900" y="3149600"/>
            <a:ext cx="2743200" cy="166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8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整合進大戶投等 App，用戶查個股時附上「近期新聞多空傾向」與來源連結，提升查詢黏著。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7000" y="2222500"/>
            <a:ext cx="3175000" cy="2667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62900" y="2438400"/>
            <a:ext cx="1498600" cy="2286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2900" y="2457450"/>
            <a:ext cx="14986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情境三・自選股推播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2900" y="2781300"/>
            <a:ext cx="2743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盤前多空摘要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2900" y="3149600"/>
            <a:ext cx="2743200" cy="166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8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依用戶自選股，每日盤前推送「你的持股昨夜有哪些利多/利空新聞」，創造每日回訪理由。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※ 所有整合情境均以「新聞語意整理／資訊呈現」為定位，附來源原文連結與免責聲明，不對個股做買賣評價；上線前送貴公司法遵確認。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04・對永豐金的價值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30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券商為什麼要做這個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9000" y="2286000"/>
            <a:ext cx="2381250" cy="241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9500" y="2501900"/>
            <a:ext cx="200025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用戶黏著 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" y="2921000"/>
            <a:ext cx="20002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每日</a:t>
            </a:r>
            <a:r>
              <a:rPr sz="12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  回訪理由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500" y="3619500"/>
            <a:ext cx="200025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從交易工具變成「每天想打開的學習與情報入口」。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0750" y="2286000"/>
            <a:ext cx="2381250" cy="241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1250" y="2501900"/>
            <a:ext cx="200025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平台差異化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1250" y="2921000"/>
            <a:ext cx="20002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獨有</a:t>
            </a:r>
            <a:r>
              <a:rPr sz="12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  內容線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1250" y="3619500"/>
            <a:ext cx="200025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「新聞判讀能力」是別家券商沒有的定位。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2500" y="2286000"/>
            <a:ext cx="2381250" cy="241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3000" y="2501900"/>
            <a:ext cx="200025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導流交易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000" y="2921000"/>
            <a:ext cx="20002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素養</a:t>
            </a:r>
            <a:r>
              <a:rPr sz="12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  → 信心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3619500"/>
            <a:ext cx="200025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更懂資訊的用戶更敢參與市場，活躍度提升。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04250" y="2286000"/>
            <a:ext cx="2381250" cy="241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4750" y="2501900"/>
            <a:ext cx="200025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品牌與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4750" y="2921000"/>
            <a:ext cx="20002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素養</a:t>
            </a:r>
            <a:r>
              <a:rPr sz="12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  形象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4750" y="3619500"/>
            <a:ext cx="200025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呼應投資人教育政策，正向品牌聯想。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關鍵：這些價值都不需要碰「投資建議」就能達成——靠的是「教方法、給工具」，而非「報明牌」。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05・法遵定位（券商最在意的一頁）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30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為什麼這對永豐金是</a:t>
            </a:r>
            <a:r>
              <a:rPr sz="300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安全</a:t>
            </a:r>
            <a:r>
              <a:rPr sz="30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的內容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2311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6500" y="2286000"/>
            <a:ext cx="100965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定位為資訊素養與程式技術教學，非投資分析或投資建議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——全程不對任何個股做買賣評價、不喊目標價、不報進出點。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000" y="2768600"/>
            <a:ext cx="104140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28448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6500" y="2819400"/>
            <a:ext cx="100965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個股一律為「教學示例」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——封面與高風險頁均有免責聲明；工具輸出每次附「非投資建議」聲明與原文連結。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000" y="3302000"/>
            <a:ext cx="104140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000" y="33782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500" y="3352800"/>
            <a:ext cx="100965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教「怎麼判讀」而非「該買什麼」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——把判斷權還給用戶，這正是與投顧業務的清楚切割線。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000" y="3835400"/>
            <a:ext cx="104140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000" y="39116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6500" y="3886200"/>
            <a:ext cx="100965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上線前全數送貴公司法遵審閱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——內容、行銷素材、App 整合文案，配合永豐金法遵流程調整並留存紀錄。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我方已備有完整法遵設計文件（投顧法、著作權、爬蟲、個資四大紅線），可提供貴公司法遵團隊先行審閱。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06・合作模式（三選一或組合）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30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三種合作深度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9000" y="2222500"/>
            <a:ext cx="3175000" cy="2667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000" y="2216150"/>
            <a:ext cx="3175000" cy="50800"/>
          </a:xfrm>
          <a:prstGeom prst="rect">
            <a:avLst/>
          </a:prstGeom>
          <a:solidFill>
            <a:srgbClr val="B08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600" y="2476500"/>
            <a:ext cx="2717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6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模式一・最輕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794000"/>
            <a:ext cx="2717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課程上架分潤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3429000"/>
            <a:ext cx="27178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課程放上永豐金學習平台，依成交分潤。最快上線，驗證用戶反應。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0" y="2222500"/>
            <a:ext cx="3175000" cy="2667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8000" y="2216150"/>
            <a:ext cx="3175000" cy="50800"/>
          </a:xfrm>
          <a:prstGeom prst="rect">
            <a:avLst/>
          </a:prstGeom>
          <a:solidFill>
            <a:srgbClr val="12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6600" y="2476500"/>
            <a:ext cx="2717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60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模式二・推薦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6600" y="2794000"/>
            <a:ext cx="2717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共同品牌獨家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600" y="3429000"/>
            <a:ext cx="27178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永豐金 × 課程共同掛名、平台獨家；可客製「永豐金用戶專屬版」內容與行銷。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7000" y="2222500"/>
            <a:ext cx="3175000" cy="2667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47000" y="2216150"/>
            <a:ext cx="3175000" cy="50800"/>
          </a:xfrm>
          <a:prstGeom prst="rect">
            <a:avLst/>
          </a:prstGeom>
          <a:solidFill>
            <a:srgbClr val="B08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5600" y="2476500"/>
            <a:ext cx="2717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6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模式三・最深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5600" y="2794000"/>
            <a:ext cx="2717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工具授權整合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5600" y="3429000"/>
            <a:ext cx="27178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將多空監測工具授權整合進 App（今日情緒／自選股推播），採授權金或年費。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建議路徑：先以模式一或二快速上線驗證，成效好再談模式三的 App 整合——風險低、可分階段。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07・商業條件（討論起點）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30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彈性的分潤與授權架構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9000" y="2286000"/>
            <a:ext cx="10414000" cy="2108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41400" y="2413000"/>
          <a:ext cx="10109200" cy="1854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86000"/>
                <a:gridCol w="2413000"/>
                <a:gridCol w="2362200"/>
                <a:gridCol w="3048000"/>
              </a:tblGrid>
              <a:tr h="4064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 spc="60">
                          <a:solidFill>
                            <a:srgbClr val="5566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模式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ap="flat">
                      <a:solidFill>
                        <a:srgbClr val="0F3B3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 spc="60">
                          <a:solidFill>
                            <a:srgbClr val="5566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計費方式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ap="flat">
                      <a:solidFill>
                        <a:srgbClr val="0F3B3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 spc="60">
                          <a:solidFill>
                            <a:srgbClr val="5566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建議區間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ap="flat">
                      <a:solidFill>
                        <a:srgbClr val="0F3B3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 spc="60">
                          <a:solidFill>
                            <a:srgbClr val="5566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備註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ap="flat">
                      <a:solidFill>
                        <a:srgbClr val="0F3B36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課程上架分潤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依課程成交拆分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12312C"/>
                          </a:solidFill>
                          <a:latin typeface="Consolas"/>
                          <a:ea typeface="Microsoft JhengHei"/>
                          <a:cs typeface="Consolas"/>
                        </a:rPr>
                        <a:t>平台 30–50%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依導流與獨家程度調整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共同品牌獨家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solidFill>
                      <a:srgbClr val="E1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分潤 + 保底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solidFill>
                      <a:srgbClr val="E1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12312C"/>
                          </a:solidFill>
                          <a:latin typeface="Consolas"/>
                          <a:ea typeface="Microsoft JhengHei"/>
                          <a:cs typeface="Consolas"/>
                        </a:rPr>
                        <a:t>另議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solidFill>
                      <a:srgbClr val="E1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含專屬版客製與聯合行銷資源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solidFill>
                      <a:srgbClr val="E1F0EC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工具授權整合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年度授權金 / 月費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12312C"/>
                          </a:solidFill>
                          <a:latin typeface="Consolas"/>
                          <a:ea typeface="Microsoft JhengHei"/>
                          <a:cs typeface="Consolas"/>
                        </a:rPr>
                        <a:t>另議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依整合深度、API 用量與維運範圍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以上為協商起點，實際條件依雙方合約為準。我方亦可接受「先小規模試營運、看數據再定案」的合作節奏。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08・上線時程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30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四階段，最快一季內上線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9000" y="2159000"/>
            <a:ext cx="10414000" cy="2590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41400" y="2286000"/>
          <a:ext cx="10109200" cy="2336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67000"/>
                <a:gridCol w="1778000"/>
                <a:gridCol w="5664200"/>
              </a:tblGrid>
              <a:tr h="4064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 spc="60">
                          <a:solidFill>
                            <a:srgbClr val="5566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ap="flat">
                      <a:solidFill>
                        <a:srgbClr val="0F3B3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 spc="60">
                          <a:solidFill>
                            <a:srgbClr val="5566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時程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ap="flat">
                      <a:solidFill>
                        <a:srgbClr val="0F3B3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 spc="60">
                          <a:solidFill>
                            <a:srgbClr val="5566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 cap="flat">
                      <a:solidFill>
                        <a:srgbClr val="0F3B36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對齊與法遵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12312C"/>
                          </a:solidFill>
                          <a:latin typeface="Consolas"/>
                          <a:ea typeface="Microsoft JhengHei"/>
                          <a:cs typeface="Consolas"/>
                        </a:rPr>
                        <a:t>2–3 週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確認合作模式；課程與工具送法遵審閱、依意見調整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② 內容客製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12312C"/>
                          </a:solidFill>
                          <a:latin typeface="Consolas"/>
                          <a:ea typeface="Microsoft JhengHei"/>
                          <a:cs typeface="Consolas"/>
                        </a:rPr>
                        <a:t>3–4 週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永豐金專屬版包裝、片頭品牌、平台上架素材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③ 試營運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12312C"/>
                          </a:solidFill>
                          <a:latin typeface="Consolas"/>
                          <a:ea typeface="Microsoft JhengHei"/>
                          <a:cs typeface="Consolas"/>
                        </a:rPr>
                        <a:t>4 週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入門課先上，觀察觀看/完課/回訪數據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DDD9C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④ 擴展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50" b="0">
                          <a:solidFill>
                            <a:srgbClr val="12312C"/>
                          </a:solidFill>
                          <a:latin typeface="Consolas"/>
                          <a:ea typeface="Microsoft JhengHei"/>
                          <a:cs typeface="Consolas"/>
                        </a:rPr>
                        <a:t>後續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350" b="0">
                          <a:solidFill>
                            <a:srgbClr val="12312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加上進階課；成效佳則啟動工具 App 整合</a:t>
                      </a:r>
                    </a:p>
                  </a:txBody>
                  <a:tcPr anchor="ctr" marL="127000" marR="88900" marT="63500" marB="635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9000" y="60071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課程與工具皆已完成，時程主要花在「法遵確認」與「品牌客製」，而非從零製作內容——這是本提案能快速上線的關鍵。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953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spc="28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09・為什麼是我們 &amp;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762000"/>
            <a:ext cx="1041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2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成品已在手上，不是一份</a:t>
            </a:r>
            <a:r>
              <a:rPr sz="2800" b="1">
                <a:solidFill>
                  <a:srgbClr val="B0812B"/>
                </a:solidFill>
                <a:latin typeface="Microsoft YaHei"/>
                <a:ea typeface="Microsoft YaHei"/>
                <a:cs typeface="Microsoft YaHei"/>
              </a:rPr>
              <a:t>企劃書</a:t>
            </a:r>
            <a:r>
              <a:rPr sz="2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而已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9000" y="1905000"/>
            <a:ext cx="4826000" cy="241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69000" y="1905000"/>
            <a:ext cx="4826000" cy="241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133600"/>
            <a:ext cx="819150" cy="228600"/>
          </a:xfrm>
          <a:prstGeom prst="roundRect">
            <a:avLst>
              <a:gd name="adj" fmla="val 50000"/>
            </a:avLst>
          </a:prstGeom>
          <a:solidFill>
            <a:srgbClr val="E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52650"/>
            <a:ext cx="81915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交付能力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5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0500" y="25400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兩門課程 + 一套工具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，皆已完成、可即刻示範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30226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0988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0500" y="30734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完整程式碼含測試與 CI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，工程品質可受檢視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5560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6322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127A6B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0500" y="36068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已備完整法遵設計文件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，供貴公司先行審閱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2133600"/>
            <a:ext cx="1225550" cy="2286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3000" y="2152650"/>
            <a:ext cx="122555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spc="60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下一步（提議）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0" y="2565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0500" y="25400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30 分鐘線上 demo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：現場展示課程與工具實跑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3000" y="30226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3000" y="30988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0500" y="30734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交付法遵文件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：讓貴公司法遵團隊先評估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3000" y="3556000"/>
            <a:ext cx="4343400" cy="6350"/>
          </a:xfrm>
          <a:prstGeom prst="rect">
            <a:avLst/>
          </a:prstGeom>
          <a:solidFill>
            <a:srgbClr val="DD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3000" y="36322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B0812B"/>
                </a:solidFill>
                <a:latin typeface="Microsoft JhengHei"/>
                <a:ea typeface="Microsoft JhengHei"/>
                <a:cs typeface="Microsoft JhengHe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0500" y="3606800"/>
            <a:ext cx="40259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2312C"/>
                </a:solidFill>
                <a:latin typeface="Microsoft JhengHei"/>
                <a:ea typeface="Microsoft JhengHei"/>
                <a:cs typeface="Microsoft JhengHei"/>
              </a:rPr>
              <a:t>選定試營運模式</a:t>
            </a:r>
            <a:r>
              <a:rPr sz="14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：從模式一/二挑一，訂上線里程碑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9000" y="4635500"/>
            <a:ext cx="9906000" cy="952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9000" y="4635500"/>
            <a:ext cx="50800" cy="952500"/>
          </a:xfrm>
          <a:prstGeom prst="rect">
            <a:avLst/>
          </a:prstGeom>
          <a:solidFill>
            <a:srgbClr val="B08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6500" y="4889500"/>
            <a:ext cx="9398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讓永豐金的投資人，不只在你的平台</a:t>
            </a:r>
            <a:r>
              <a:rPr sz="180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下單</a:t>
            </a:r>
            <a:r>
              <a:rPr sz="1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，也在你的平台</a:t>
            </a:r>
            <a:r>
              <a:rPr sz="1800" b="1">
                <a:solidFill>
                  <a:srgbClr val="127A6B"/>
                </a:solidFill>
                <a:latin typeface="Microsoft YaHei"/>
                <a:ea typeface="Microsoft YaHei"/>
                <a:cs typeface="Microsoft YaHei"/>
              </a:rPr>
              <a:t>變強</a:t>
            </a:r>
            <a:r>
              <a:rPr sz="1800" b="1">
                <a:solidFill>
                  <a:srgbClr val="12312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000" y="57404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556661"/>
                </a:solidFill>
                <a:latin typeface="Microsoft JhengHei"/>
                <a:ea typeface="Microsoft JhengHei"/>
                <a:cs typeface="Microsoft JhengHei"/>
              </a:rPr>
              <a:t>本提案內容為合作討論用途；一切課程與工具均定位為投資知識與資訊素養教學，不構成投資分析或買賣建議。品牌名稱僅為說明合作對象，實際合作以雙方正式合約為準。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" y="6375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永豐金課程平台合作提案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6375400"/>
            <a:ext cx="482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556661"/>
                </a:solidFill>
                <a:latin typeface="Consolas"/>
                <a:ea typeface="Microsoft JhengHei"/>
                <a:cs typeface="Consola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